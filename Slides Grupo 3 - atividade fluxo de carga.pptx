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5" r:id="rId3"/>
    <p:sldId id="257" r:id="rId4"/>
    <p:sldId id="258" r:id="rId5"/>
    <p:sldId id="259" r:id="rId6"/>
    <p:sldId id="260" r:id="rId7"/>
    <p:sldId id="266" r:id="rId8"/>
    <p:sldId id="261" r:id="rId9"/>
    <p:sldId id="267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816" y="-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B6A32D-0D48-4AAB-9832-5F8D1AF68859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7CE65D-B5F4-4679-9B50-792CC83179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4624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ED7CF-718C-D376-F8A6-2F2B871E9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63DF71C-F689-A060-2D80-AF38D6086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95DBF9-A30A-4739-0B56-FC04A3D87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439D-4D19-4BB3-AAFC-F62E64326CDE}" type="datetime1">
              <a:rPr lang="pt-BR" smtClean="0"/>
              <a:t>06/07/2026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C377AF-03CA-F8C5-E0C2-8F06DD16B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43FB37-BCD6-FBCE-15F8-76BAE641C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EF25A-341A-40B7-9D4B-928991921F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2149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655039-DAAA-E2AC-9EFF-500A2B6DE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61E333-426B-3DC3-3175-8CFBA5B3B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1B5E36-0CFF-B936-404A-D526B75D9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5FAAE-F77D-4DBF-A183-01BF1ABC3CB7}" type="datetime1">
              <a:rPr lang="pt-BR" smtClean="0"/>
              <a:t>06/07/2026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48A3AB-4A02-3192-C5C1-CCE1ED192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7DEE9B-8255-8D2E-9B06-5753E915B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EF25A-341A-40B7-9D4B-928991921F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0515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632902-26D6-A7C2-56ED-5854C911F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1265560-AFEF-88FD-C450-CECFAA0D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50ABBC-1BE6-614A-DFDD-7F3F13C0F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921E5-20A4-4E3E-873F-A07363E89ADC}" type="datetime1">
              <a:rPr lang="pt-BR" smtClean="0"/>
              <a:t>06/07/2026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E1C75E-3B12-4DC0-0572-31716B051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A45F2C-836B-E1F4-0569-E4BE52909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EF25A-341A-40B7-9D4B-928991921F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5869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BE8181-53A2-6E77-2300-4B443F454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FE7D6D-72AC-B4DB-4A1B-726BC42C15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EE191D6-895B-7AD8-3578-E932F5191A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C6DAAE5-99B6-A59D-5C1F-49A526DD5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C9D67-34D5-4FCA-BD0B-046882682569}" type="datetime1">
              <a:rPr lang="pt-BR" smtClean="0"/>
              <a:t>06/07/2026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2D1EBED-05FC-8F15-CDBD-45BD250C8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522CEA6-5806-BA12-0501-F4B548B55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EF25A-341A-40B7-9D4B-928991921F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7843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4C17B9-4D7C-B5F1-1145-0A4AE537D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6A8B78B-BDB4-5418-C0B8-AA75E6D23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A1673FC-85C2-5288-C0DC-AA008DB13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FAFCECB-413B-BFBF-8482-51046D5AC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2473557-14E7-C4D9-E5CD-68288453E7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CF058C4-8A5E-40D5-CE48-DF7580B1A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4D67-E5FB-4921-BF70-087955EC938B}" type="datetime1">
              <a:rPr lang="pt-BR" smtClean="0"/>
              <a:t>06/07/2026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338AF6A-42DB-7E33-22FD-A67DB3AF4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FD9BB2D-B1CD-09BA-E8E2-230F322AB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EF25A-341A-40B7-9D4B-928991921F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6735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AD27BE-72BF-6644-F18F-5D8DD7878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25E464E-1E15-8E06-C26D-CD83AC93E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5E201-E511-46B8-B48D-EF94F089738C}" type="datetime1">
              <a:rPr lang="pt-BR" smtClean="0"/>
              <a:t>06/07/2026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20440F-F59B-5B31-5364-82331E314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5327F86-445E-7518-6283-2BE4F0B7A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EF25A-341A-40B7-9D4B-928991921F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4839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6C9A27C-7AED-6ABC-73B0-06B752673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9B7A3-C0F8-4C94-8994-640B9CAD9AAF}" type="datetime1">
              <a:rPr lang="pt-BR" smtClean="0"/>
              <a:t>06/07/2026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80D9501-527E-F347-7AD0-6BA2A8541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0898C1-E2B1-9F27-DECF-AD02045E1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EF25A-341A-40B7-9D4B-928991921F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5084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4B5AED-C673-D774-8A39-B6D758109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BA8222-BF7B-F0B4-FE51-641196CF3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2BAFC99-1125-37E3-05B1-3C8856D59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4BFFDF-869A-06EB-89BD-F67AB63FC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793B5-9403-4221-A22F-BAE10E969675}" type="datetime1">
              <a:rPr lang="pt-BR" smtClean="0"/>
              <a:t>06/07/2026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5D704E6-F1E7-A92B-417D-AF65D3047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0D9E22F-7A92-86EC-A0B2-2D4240D34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EF25A-341A-40B7-9D4B-928991921F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912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AC2A8E-FFF3-05EC-1E81-7BC3D0B97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92887E3-1232-A9A2-B411-22887A6439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AE81244-708F-75E6-54BA-56F7E934C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594172-7931-83DA-2FBB-A4D4A125C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A530A-BDEE-4E1F-8E67-5C992AAAF4EF}" type="datetime1">
              <a:rPr lang="pt-BR" smtClean="0"/>
              <a:t>06/07/2026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8BB139B-21D2-2CB4-88FB-3A85EF5B6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4F42D02-E276-F85A-FEE9-20C2D102E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EF25A-341A-40B7-9D4B-928991921F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4842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FBA703-9EE8-BFA1-9574-4A9DA974E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4547840-BE21-7394-494C-06936B33FC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16313C-CD50-EFCF-3F87-B32656ACC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CF35C-207C-4853-ACB4-0DF507FADBFC}" type="datetime1">
              <a:rPr lang="pt-BR" smtClean="0"/>
              <a:t>06/07/2026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EF84BE-178C-870C-B1FA-E5E165806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CABF4D-DC54-D025-6973-AEB2AEF44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EF25A-341A-40B7-9D4B-928991921F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1076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C882734-4D33-49E6-1DE5-D817650991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32909E5-301C-7651-A2CF-79644EFE4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D6CFD2-5D08-B345-7DFB-631DCAEDA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A10F8-7EE9-414F-9A87-8A4A22BD6863}" type="datetime1">
              <a:rPr lang="pt-BR" smtClean="0"/>
              <a:t>06/07/2026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3C164C-A87E-6726-1A0A-EC1512F61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DD2AC9-3AD2-307A-2E1F-B6811E999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EF25A-341A-40B7-9D4B-928991921F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7913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50329C2-CFE7-DA44-F0F8-06AC40066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0A116DD-7CAD-6355-7752-663E37D68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FAEE2A-1CB3-90EE-B4CD-C1A8DE2C1F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518A9-460B-41AA-AC85-93F98F1FD07F}" type="datetime1">
              <a:rPr lang="pt-BR" smtClean="0"/>
              <a:t>06/07/2026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3FD36B-2331-F102-BBA1-99EF417AC9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A1D337-BC95-D30D-C3C7-D889537C6F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6EF25A-341A-40B7-9D4B-928991921F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0429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5E02202-1AE7-90A1-CCC6-FD323CFA6B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4276" y="847940"/>
            <a:ext cx="8883442" cy="1398555"/>
          </a:xfrm>
        </p:spPr>
        <p:txBody>
          <a:bodyPr>
            <a:noAutofit/>
          </a:bodyPr>
          <a:lstStyle/>
          <a:p>
            <a:r>
              <a:rPr lang="pt-BR" sz="4400" dirty="0">
                <a:solidFill>
                  <a:schemeClr val="accent1"/>
                </a:solidFill>
              </a:rPr>
              <a:t>Fluxo de Carga no STB-9: Avaliação de Carregamento e Compensação Reativa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C9046D2E-9BD7-DAC6-7472-FFAC3C757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1282" y="2883811"/>
            <a:ext cx="1966451" cy="620998"/>
          </a:xfrm>
        </p:spPr>
        <p:txBody>
          <a:bodyPr>
            <a:normAutofit/>
          </a:bodyPr>
          <a:lstStyle/>
          <a:p>
            <a:pPr algn="l"/>
            <a:r>
              <a:rPr lang="en-US" sz="2200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ALUNOS:</a:t>
            </a:r>
            <a:endParaRPr lang="pt-BR" sz="2200" dirty="0"/>
          </a:p>
        </p:txBody>
      </p:sp>
      <p:sp>
        <p:nvSpPr>
          <p:cNvPr id="8" name="Google Shape;59;p1">
            <a:extLst>
              <a:ext uri="{FF2B5EF4-FFF2-40B4-BE49-F238E27FC236}">
                <a16:creationId xmlns:a16="http://schemas.microsoft.com/office/drawing/2014/main" id="{A2284D9C-5A90-0C9E-5942-E63EC5B22CF7}"/>
              </a:ext>
            </a:extLst>
          </p:cNvPr>
          <p:cNvSpPr/>
          <p:nvPr/>
        </p:nvSpPr>
        <p:spPr>
          <a:xfrm rot="10800000" flipH="1">
            <a:off x="-36057" y="-60326"/>
            <a:ext cx="2415464" cy="4843947"/>
          </a:xfrm>
          <a:prstGeom prst="rtTriangle">
            <a:avLst/>
          </a:prstGeom>
          <a:solidFill>
            <a:srgbClr val="002060"/>
          </a:solidFill>
          <a:ln w="22225" cap="rnd" cmpd="sng">
            <a:solidFill>
              <a:srgbClr val="0A15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" name="Google Shape;60;p1">
            <a:extLst>
              <a:ext uri="{FF2B5EF4-FFF2-40B4-BE49-F238E27FC236}">
                <a16:creationId xmlns:a16="http://schemas.microsoft.com/office/drawing/2014/main" id="{24472BBC-F7F6-9FFA-7F46-E0B491C9AFF0}"/>
              </a:ext>
            </a:extLst>
          </p:cNvPr>
          <p:cNvSpPr/>
          <p:nvPr/>
        </p:nvSpPr>
        <p:spPr>
          <a:xfrm rot="10800000" flipH="1">
            <a:off x="0" y="-10209"/>
            <a:ext cx="1524000" cy="2898552"/>
          </a:xfrm>
          <a:prstGeom prst="rtTriangle">
            <a:avLst/>
          </a:prstGeom>
          <a:solidFill>
            <a:srgbClr val="0C1830"/>
          </a:solidFill>
          <a:ln w="22225" cap="rnd" cmpd="sng">
            <a:solidFill>
              <a:srgbClr val="0A15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" name="Google Shape;61;p1">
            <a:extLst>
              <a:ext uri="{FF2B5EF4-FFF2-40B4-BE49-F238E27FC236}">
                <a16:creationId xmlns:a16="http://schemas.microsoft.com/office/drawing/2014/main" id="{73B3BB6B-D352-B918-4A5B-4E9D0A1C9B33}"/>
              </a:ext>
            </a:extLst>
          </p:cNvPr>
          <p:cNvSpPr/>
          <p:nvPr/>
        </p:nvSpPr>
        <p:spPr>
          <a:xfrm rot="10800000" flipH="1">
            <a:off x="-36059" y="-60326"/>
            <a:ext cx="2602278" cy="627863"/>
          </a:xfrm>
          <a:prstGeom prst="rtTriangle">
            <a:avLst/>
          </a:prstGeom>
          <a:solidFill>
            <a:srgbClr val="C1D1EE"/>
          </a:solidFill>
          <a:ln w="22225" cap="rnd" cmpd="sng">
            <a:solidFill>
              <a:srgbClr val="0A15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DF6F645-063F-EA7C-6CC3-AC308B30208E}"/>
              </a:ext>
            </a:extLst>
          </p:cNvPr>
          <p:cNvSpPr txBox="1"/>
          <p:nvPr/>
        </p:nvSpPr>
        <p:spPr>
          <a:xfrm>
            <a:off x="3616051" y="2860065"/>
            <a:ext cx="602990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CAÍQUE MORAES DE LIMA MANGABEIRA</a:t>
            </a:r>
            <a:endParaRPr lang="pt-BR" sz="2200" dirty="0"/>
          </a:p>
          <a:p>
            <a:r>
              <a:rPr lang="pt-BR" sz="2200" dirty="0"/>
              <a:t>EMERSON MATHEUS LIMA DA SILVA</a:t>
            </a:r>
          </a:p>
          <a:p>
            <a:r>
              <a:rPr lang="pt-BR" sz="2200" dirty="0"/>
              <a:t>LEVY DE ARAÚJO SILVA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7812599-B4E2-E941-21E4-A42551D07ACC}"/>
              </a:ext>
            </a:extLst>
          </p:cNvPr>
          <p:cNvSpPr txBox="1"/>
          <p:nvPr/>
        </p:nvSpPr>
        <p:spPr>
          <a:xfrm>
            <a:off x="3961303" y="4369610"/>
            <a:ext cx="4269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Professor: </a:t>
            </a:r>
            <a:r>
              <a:rPr lang="pt-BR" sz="2400" dirty="0" err="1"/>
              <a:t>Huilman</a:t>
            </a:r>
            <a:r>
              <a:rPr lang="pt-BR" sz="2400" dirty="0"/>
              <a:t> Sanca </a:t>
            </a:r>
            <a:r>
              <a:rPr lang="pt-BR" sz="2400" dirty="0" err="1"/>
              <a:t>Sanca</a:t>
            </a:r>
            <a:endParaRPr lang="pt-BR" sz="2400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5A782EC-96D1-ACC2-7564-B7CA8A50A723}"/>
              </a:ext>
            </a:extLst>
          </p:cNvPr>
          <p:cNvSpPr txBox="1"/>
          <p:nvPr/>
        </p:nvSpPr>
        <p:spPr>
          <a:xfrm>
            <a:off x="2325325" y="5373267"/>
            <a:ext cx="75413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Universidade Federal de Campina Grande -  UFCG</a:t>
            </a:r>
          </a:p>
          <a:p>
            <a:pPr algn="ctr"/>
            <a:r>
              <a:rPr lang="pt-BR" dirty="0"/>
              <a:t>Departamento de Engenharia Elétrica – DEE</a:t>
            </a:r>
          </a:p>
          <a:p>
            <a:pPr algn="ctr"/>
            <a:r>
              <a:rPr lang="pt-BR" dirty="0"/>
              <a:t>Disciplina: Sistemas Elétricos (2026.1)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6D34188-29E4-2269-4964-F643D25F3480}"/>
              </a:ext>
            </a:extLst>
          </p:cNvPr>
          <p:cNvSpPr txBox="1"/>
          <p:nvPr/>
        </p:nvSpPr>
        <p:spPr>
          <a:xfrm>
            <a:off x="4995016" y="6296597"/>
            <a:ext cx="27825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07 de Julho de 2026</a:t>
            </a:r>
          </a:p>
        </p:txBody>
      </p:sp>
      <p:sp>
        <p:nvSpPr>
          <p:cNvPr id="16" name="Espaço Reservado para Número de Slide 14">
            <a:extLst>
              <a:ext uri="{FF2B5EF4-FFF2-40B4-BE49-F238E27FC236}">
                <a16:creationId xmlns:a16="http://schemas.microsoft.com/office/drawing/2014/main" id="{C324887C-2A3D-6966-B944-77F5F353595C}"/>
              </a:ext>
            </a:extLst>
          </p:cNvPr>
          <p:cNvSpPr txBox="1">
            <a:spLocks/>
          </p:cNvSpPr>
          <p:nvPr/>
        </p:nvSpPr>
        <p:spPr>
          <a:xfrm>
            <a:off x="11405419" y="6377371"/>
            <a:ext cx="634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6EF25A-341A-40B7-9D4B-928991921FC7}" type="slidenum">
              <a:rPr lang="pt-BR" b="1" smtClean="0">
                <a:solidFill>
                  <a:schemeClr val="accent1"/>
                </a:solidFill>
              </a:rPr>
              <a:pPr/>
              <a:t>1</a:t>
            </a:fld>
            <a:r>
              <a:rPr lang="pt-BR" b="1" dirty="0">
                <a:solidFill>
                  <a:schemeClr val="accent1"/>
                </a:solidFill>
              </a:rPr>
              <a:t>/12</a:t>
            </a:r>
          </a:p>
        </p:txBody>
      </p:sp>
    </p:spTree>
    <p:extLst>
      <p:ext uri="{BB962C8B-B14F-4D97-AF65-F5344CB8AC3E}">
        <p14:creationId xmlns:p14="http://schemas.microsoft.com/office/powerpoint/2010/main" val="2421949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14">
            <a:extLst>
              <a:ext uri="{FF2B5EF4-FFF2-40B4-BE49-F238E27FC236}">
                <a16:creationId xmlns:a16="http://schemas.microsoft.com/office/drawing/2014/main" id="{E789BE36-E99F-3E9D-BFCB-DBD0C9570BAF}"/>
              </a:ext>
            </a:extLst>
          </p:cNvPr>
          <p:cNvSpPr txBox="1">
            <a:spLocks/>
          </p:cNvSpPr>
          <p:nvPr/>
        </p:nvSpPr>
        <p:spPr>
          <a:xfrm>
            <a:off x="11454581" y="6377371"/>
            <a:ext cx="585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6EF25A-341A-40B7-9D4B-928991921FC7}" type="slidenum">
              <a:rPr lang="pt-BR" b="1" smtClean="0">
                <a:solidFill>
                  <a:schemeClr val="accent1"/>
                </a:solidFill>
              </a:rPr>
              <a:pPr/>
              <a:t>2</a:t>
            </a:fld>
            <a:r>
              <a:rPr lang="pt-BR" b="1" dirty="0">
                <a:solidFill>
                  <a:schemeClr val="accent1"/>
                </a:solidFill>
              </a:rPr>
              <a:t>/12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7536666-ADD5-6AD7-2698-7760501E592A}"/>
              </a:ext>
            </a:extLst>
          </p:cNvPr>
          <p:cNvSpPr/>
          <p:nvPr/>
        </p:nvSpPr>
        <p:spPr>
          <a:xfrm>
            <a:off x="0" y="-7425"/>
            <a:ext cx="12192000" cy="114079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3C1706A-950A-CC3B-F9D0-91910F1B7182}"/>
              </a:ext>
            </a:extLst>
          </p:cNvPr>
          <p:cNvSpPr txBox="1"/>
          <p:nvPr/>
        </p:nvSpPr>
        <p:spPr>
          <a:xfrm>
            <a:off x="447021" y="239808"/>
            <a:ext cx="10245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Sumário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6F5FFFE-E8F0-3CEE-2805-C60DA231CCEE}"/>
              </a:ext>
            </a:extLst>
          </p:cNvPr>
          <p:cNvSpPr txBox="1"/>
          <p:nvPr/>
        </p:nvSpPr>
        <p:spPr>
          <a:xfrm>
            <a:off x="363794" y="1908475"/>
            <a:ext cx="1109078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Objetivos do Estudo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Metodologia das Simulações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Caso base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Variação das cargas nas barras 7, 8 e 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Perfil de tensões nas barras perdas ativas por linha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Identificação do pior cenário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Comparação antes e depois da Compensação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Dispositivos FACTS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Conclusão</a:t>
            </a:r>
          </a:p>
        </p:txBody>
      </p:sp>
    </p:spTree>
    <p:extLst>
      <p:ext uri="{BB962C8B-B14F-4D97-AF65-F5344CB8AC3E}">
        <p14:creationId xmlns:p14="http://schemas.microsoft.com/office/powerpoint/2010/main" val="3997088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720D798-382C-FBCC-1D48-C426E4CB8D24}"/>
              </a:ext>
            </a:extLst>
          </p:cNvPr>
          <p:cNvSpPr/>
          <p:nvPr/>
        </p:nvSpPr>
        <p:spPr>
          <a:xfrm>
            <a:off x="0" y="-7425"/>
            <a:ext cx="12192000" cy="114079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8FB1A37-80FC-FB27-B960-63A4E281649C}"/>
              </a:ext>
            </a:extLst>
          </p:cNvPr>
          <p:cNvSpPr txBox="1"/>
          <p:nvPr/>
        </p:nvSpPr>
        <p:spPr>
          <a:xfrm>
            <a:off x="447021" y="239808"/>
            <a:ext cx="10245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Objetivo do Estudo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10C2CB0-0C1B-BC8A-9F15-2FBCEBBFA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012" y="1697147"/>
            <a:ext cx="5835102" cy="3846262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38D38CAC-B504-CFD6-FBA5-97F2C0034619}"/>
              </a:ext>
            </a:extLst>
          </p:cNvPr>
          <p:cNvSpPr txBox="1"/>
          <p:nvPr/>
        </p:nvSpPr>
        <p:spPr>
          <a:xfrm>
            <a:off x="6712572" y="5693338"/>
            <a:ext cx="4388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Diagrama unifilar do Sistema-Teste Brasileiro de 9 barras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40975DE-9F5C-C8E3-B633-9A18B28BFEA0}"/>
              </a:ext>
            </a:extLst>
          </p:cNvPr>
          <p:cNvSpPr txBox="1"/>
          <p:nvPr/>
        </p:nvSpPr>
        <p:spPr>
          <a:xfrm>
            <a:off x="378886" y="4005388"/>
            <a:ext cx="559912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Informações Principais do Sistema: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Sistema com </a:t>
            </a:r>
            <a:r>
              <a:rPr lang="pt-BR" sz="2000" b="1" dirty="0"/>
              <a:t>9 barras:</a:t>
            </a:r>
            <a:endParaRPr lang="pt-BR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b="1" dirty="0"/>
              <a:t>2 barras geradoras</a:t>
            </a:r>
            <a:r>
              <a:rPr lang="pt-BR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b="1" dirty="0"/>
              <a:t>5 barras de carga</a:t>
            </a:r>
            <a:r>
              <a:rPr lang="pt-BR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8 linhas de transmissão em </a:t>
            </a:r>
            <a:r>
              <a:rPr lang="pt-BR" sz="2000" b="1" dirty="0"/>
              <a:t>230 kV</a:t>
            </a:r>
            <a:r>
              <a:rPr lang="pt-BR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Carga total do caso base: </a:t>
            </a:r>
            <a:r>
              <a:rPr lang="pt-BR" sz="2000" b="1" dirty="0"/>
              <a:t>325 MW e 153 </a:t>
            </a:r>
            <a:r>
              <a:rPr lang="pt-BR" sz="2000" b="1" dirty="0" err="1"/>
              <a:t>Mvar</a:t>
            </a:r>
            <a:r>
              <a:rPr lang="pt-BR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Faixa admissível de tensão: </a:t>
            </a:r>
            <a:r>
              <a:rPr lang="pt-BR" sz="2000" b="1" dirty="0"/>
              <a:t>0,95 a 1,05 </a:t>
            </a:r>
            <a:r>
              <a:rPr lang="pt-BR" sz="2000" b="1" dirty="0" err="1"/>
              <a:t>pu</a:t>
            </a:r>
            <a:endParaRPr lang="pt-BR" sz="2000" dirty="0"/>
          </a:p>
          <a:p>
            <a:endParaRPr lang="pt-BR" sz="20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E62A6D2-A54A-422E-CBB7-D4765C748857}"/>
              </a:ext>
            </a:extLst>
          </p:cNvPr>
          <p:cNvSpPr txBox="1"/>
          <p:nvPr/>
        </p:nvSpPr>
        <p:spPr>
          <a:xfrm>
            <a:off x="378886" y="1839133"/>
            <a:ext cx="56935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O objetivo deste trabalho é analisar o comportamento do sistema em diferentes condições de carregamento, identificar o cenário mais crítico de tensão e propor uma estratégia para melhoria do perfil de tensão.</a:t>
            </a:r>
          </a:p>
        </p:txBody>
      </p:sp>
      <p:sp>
        <p:nvSpPr>
          <p:cNvPr id="14" name="Espaço Reservado para Número de Slide 14">
            <a:extLst>
              <a:ext uri="{FF2B5EF4-FFF2-40B4-BE49-F238E27FC236}">
                <a16:creationId xmlns:a16="http://schemas.microsoft.com/office/drawing/2014/main" id="{C1149C8D-34C1-EDD0-144A-5968CA8619A2}"/>
              </a:ext>
            </a:extLst>
          </p:cNvPr>
          <p:cNvSpPr txBox="1">
            <a:spLocks/>
          </p:cNvSpPr>
          <p:nvPr/>
        </p:nvSpPr>
        <p:spPr>
          <a:xfrm>
            <a:off x="11464413" y="6377371"/>
            <a:ext cx="575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6EF25A-341A-40B7-9D4B-928991921FC7}" type="slidenum">
              <a:rPr lang="pt-BR" b="1" smtClean="0">
                <a:solidFill>
                  <a:schemeClr val="accent1"/>
                </a:solidFill>
              </a:rPr>
              <a:pPr/>
              <a:t>3</a:t>
            </a:fld>
            <a:r>
              <a:rPr lang="pt-BR" b="1" dirty="0">
                <a:solidFill>
                  <a:schemeClr val="accent1"/>
                </a:solidFill>
              </a:rPr>
              <a:t>/12</a:t>
            </a:r>
          </a:p>
        </p:txBody>
      </p:sp>
    </p:spTree>
    <p:extLst>
      <p:ext uri="{BB962C8B-B14F-4D97-AF65-F5344CB8AC3E}">
        <p14:creationId xmlns:p14="http://schemas.microsoft.com/office/powerpoint/2010/main" val="796938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BF923E4-AD7F-A652-0579-7A079B8691E7}"/>
              </a:ext>
            </a:extLst>
          </p:cNvPr>
          <p:cNvSpPr/>
          <p:nvPr/>
        </p:nvSpPr>
        <p:spPr>
          <a:xfrm>
            <a:off x="0" y="-7425"/>
            <a:ext cx="12192000" cy="114079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B824306-70F8-3DFB-BB15-C418217A0938}"/>
              </a:ext>
            </a:extLst>
          </p:cNvPr>
          <p:cNvSpPr txBox="1"/>
          <p:nvPr/>
        </p:nvSpPr>
        <p:spPr>
          <a:xfrm>
            <a:off x="447021" y="239808"/>
            <a:ext cx="10245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Metodologia das Simulações</a:t>
            </a:r>
          </a:p>
        </p:txBody>
      </p:sp>
      <p:sp>
        <p:nvSpPr>
          <p:cNvPr id="7" name="Google Shape;314;p26">
            <a:extLst>
              <a:ext uri="{FF2B5EF4-FFF2-40B4-BE49-F238E27FC236}">
                <a16:creationId xmlns:a16="http://schemas.microsoft.com/office/drawing/2014/main" id="{FC4B81AA-68DB-AF90-FBDE-15C5D532E213}"/>
              </a:ext>
            </a:extLst>
          </p:cNvPr>
          <p:cNvSpPr/>
          <p:nvPr/>
        </p:nvSpPr>
        <p:spPr>
          <a:xfrm>
            <a:off x="228098" y="2472225"/>
            <a:ext cx="2369540" cy="1140798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22225" cap="rnd" cmpd="sng">
            <a:solidFill>
              <a:srgbClr val="0A15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5C532FA-F173-A3F4-C416-9C103CFA920E}"/>
              </a:ext>
            </a:extLst>
          </p:cNvPr>
          <p:cNvSpPr txBox="1"/>
          <p:nvPr/>
        </p:nvSpPr>
        <p:spPr>
          <a:xfrm>
            <a:off x="657088" y="2794377"/>
            <a:ext cx="1621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Caso Base</a:t>
            </a:r>
          </a:p>
        </p:txBody>
      </p:sp>
      <p:sp>
        <p:nvSpPr>
          <p:cNvPr id="10" name="Google Shape;314;p26">
            <a:extLst>
              <a:ext uri="{FF2B5EF4-FFF2-40B4-BE49-F238E27FC236}">
                <a16:creationId xmlns:a16="http://schemas.microsoft.com/office/drawing/2014/main" id="{E0B364F8-CDF9-7A93-14FB-A22227BF6715}"/>
              </a:ext>
            </a:extLst>
          </p:cNvPr>
          <p:cNvSpPr/>
          <p:nvPr/>
        </p:nvSpPr>
        <p:spPr>
          <a:xfrm>
            <a:off x="3304953" y="2472225"/>
            <a:ext cx="2369540" cy="1155079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22225" cap="rnd" cmpd="sng">
            <a:solidFill>
              <a:srgbClr val="0A15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0DCBC9C-FBC6-C01F-22FA-9A2BEEB40073}"/>
              </a:ext>
            </a:extLst>
          </p:cNvPr>
          <p:cNvSpPr txBox="1"/>
          <p:nvPr/>
        </p:nvSpPr>
        <p:spPr>
          <a:xfrm>
            <a:off x="3309019" y="2828007"/>
            <a:ext cx="2425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Variação de Carga</a:t>
            </a:r>
          </a:p>
        </p:txBody>
      </p:sp>
      <p:sp>
        <p:nvSpPr>
          <p:cNvPr id="12" name="Google Shape;314;p26">
            <a:extLst>
              <a:ext uri="{FF2B5EF4-FFF2-40B4-BE49-F238E27FC236}">
                <a16:creationId xmlns:a16="http://schemas.microsoft.com/office/drawing/2014/main" id="{9F0FB074-E115-5B0A-E301-4FF69CE23F58}"/>
              </a:ext>
            </a:extLst>
          </p:cNvPr>
          <p:cNvSpPr/>
          <p:nvPr/>
        </p:nvSpPr>
        <p:spPr>
          <a:xfrm>
            <a:off x="6419560" y="2481301"/>
            <a:ext cx="2369540" cy="1155079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22225" cap="rnd" cmpd="sng">
            <a:solidFill>
              <a:srgbClr val="0A15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E25060F-38E4-FB85-3388-57232C1C8C49}"/>
              </a:ext>
            </a:extLst>
          </p:cNvPr>
          <p:cNvSpPr txBox="1"/>
          <p:nvPr/>
        </p:nvSpPr>
        <p:spPr>
          <a:xfrm>
            <a:off x="6740302" y="2854215"/>
            <a:ext cx="1788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Pior Cenário</a:t>
            </a:r>
          </a:p>
        </p:txBody>
      </p:sp>
      <p:sp>
        <p:nvSpPr>
          <p:cNvPr id="14" name="Google Shape;314;p26">
            <a:extLst>
              <a:ext uri="{FF2B5EF4-FFF2-40B4-BE49-F238E27FC236}">
                <a16:creationId xmlns:a16="http://schemas.microsoft.com/office/drawing/2014/main" id="{DB0922E0-A48D-DB33-656D-5420F41A9481}"/>
              </a:ext>
            </a:extLst>
          </p:cNvPr>
          <p:cNvSpPr/>
          <p:nvPr/>
        </p:nvSpPr>
        <p:spPr>
          <a:xfrm>
            <a:off x="9594361" y="2472225"/>
            <a:ext cx="2369541" cy="1202669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22225" cap="rnd" cmpd="sng">
            <a:solidFill>
              <a:srgbClr val="0A15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7B5A5D1-47A8-7F1D-A72A-AF9097C244BA}"/>
              </a:ext>
            </a:extLst>
          </p:cNvPr>
          <p:cNvSpPr txBox="1"/>
          <p:nvPr/>
        </p:nvSpPr>
        <p:spPr>
          <a:xfrm>
            <a:off x="9860369" y="2854214"/>
            <a:ext cx="2019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Compensação</a:t>
            </a:r>
          </a:p>
        </p:txBody>
      </p:sp>
      <p:sp>
        <p:nvSpPr>
          <p:cNvPr id="16" name="Google Shape;320;p26">
            <a:extLst>
              <a:ext uri="{FF2B5EF4-FFF2-40B4-BE49-F238E27FC236}">
                <a16:creationId xmlns:a16="http://schemas.microsoft.com/office/drawing/2014/main" id="{0B0E4AA3-C43E-35D3-603A-15F0C4226CCA}"/>
              </a:ext>
            </a:extLst>
          </p:cNvPr>
          <p:cNvSpPr/>
          <p:nvPr/>
        </p:nvSpPr>
        <p:spPr>
          <a:xfrm>
            <a:off x="2751702" y="2914054"/>
            <a:ext cx="399187" cy="34198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2225" cap="rnd" cmpd="sng">
            <a:solidFill>
              <a:srgbClr val="0A15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320;p26">
            <a:extLst>
              <a:ext uri="{FF2B5EF4-FFF2-40B4-BE49-F238E27FC236}">
                <a16:creationId xmlns:a16="http://schemas.microsoft.com/office/drawing/2014/main" id="{E1698E0D-920C-5897-7F66-4F7330D78F1D}"/>
              </a:ext>
            </a:extLst>
          </p:cNvPr>
          <p:cNvSpPr/>
          <p:nvPr/>
        </p:nvSpPr>
        <p:spPr>
          <a:xfrm>
            <a:off x="5867021" y="2932271"/>
            <a:ext cx="399187" cy="34198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2225" cap="rnd" cmpd="sng">
            <a:solidFill>
              <a:srgbClr val="0A15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" name="Google Shape;320;p26">
            <a:extLst>
              <a:ext uri="{FF2B5EF4-FFF2-40B4-BE49-F238E27FC236}">
                <a16:creationId xmlns:a16="http://schemas.microsoft.com/office/drawing/2014/main" id="{20746BE0-2F78-4665-2A75-0A855FED56EC}"/>
              </a:ext>
            </a:extLst>
          </p:cNvPr>
          <p:cNvSpPr/>
          <p:nvPr/>
        </p:nvSpPr>
        <p:spPr>
          <a:xfrm>
            <a:off x="8981628" y="2918710"/>
            <a:ext cx="399187" cy="34198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2225" cap="rnd" cmpd="sng">
            <a:solidFill>
              <a:srgbClr val="0A15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C1CD061-D1B2-0061-56A3-1869E36F3D0F}"/>
              </a:ext>
            </a:extLst>
          </p:cNvPr>
          <p:cNvSpPr txBox="1"/>
          <p:nvPr/>
        </p:nvSpPr>
        <p:spPr>
          <a:xfrm>
            <a:off x="657088" y="4376699"/>
            <a:ext cx="106967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Para o caso base, adotou-se a barra 1 como referência, com </a:t>
            </a:r>
            <a:r>
              <a:rPr lang="pt-BR" sz="2400" b="1" dirty="0"/>
              <a:t>V = 1,0 </a:t>
            </a:r>
            <a:r>
              <a:rPr lang="pt-BR" sz="2400" b="1" dirty="0" err="1"/>
              <a:t>pu</a:t>
            </a:r>
            <a:r>
              <a:rPr lang="pt-BR" sz="2400" b="1" dirty="0"/>
              <a:t> e θ = 0◦</a:t>
            </a:r>
            <a:r>
              <a:rPr lang="pt-BR" sz="2400" dirty="0"/>
              <a:t>, e a barra 2 como </a:t>
            </a:r>
            <a:r>
              <a:rPr lang="pt-BR" sz="2400" b="1" dirty="0"/>
              <a:t>barra PV</a:t>
            </a:r>
            <a:r>
              <a:rPr lang="pt-BR" sz="2400" dirty="0"/>
              <a:t>, com </a:t>
            </a:r>
            <a:r>
              <a:rPr lang="pt-BR" sz="2400" b="1" dirty="0"/>
              <a:t>P = 100MW e V =1,0 </a:t>
            </a:r>
            <a:r>
              <a:rPr lang="pt-BR" sz="2400" b="1" dirty="0" err="1"/>
              <a:t>pu</a:t>
            </a:r>
            <a:r>
              <a:rPr lang="pt-BR" sz="2400" b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Foram simulados cenários de variação de carga nas barras </a:t>
            </a:r>
            <a:r>
              <a:rPr lang="pt-BR" sz="2400" b="1" dirty="0"/>
              <a:t>7, 8 e 9.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Os patamares considerados foram </a:t>
            </a:r>
            <a:r>
              <a:rPr lang="pt-BR" sz="2400" b="1" dirty="0"/>
              <a:t>25%, 50%, 100%, 125% e 150%.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Identificou o cenário mais crítico de tensão.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/>
          </a:p>
        </p:txBody>
      </p:sp>
      <p:sp>
        <p:nvSpPr>
          <p:cNvPr id="21" name="Espaço Reservado para Número de Slide 14">
            <a:extLst>
              <a:ext uri="{FF2B5EF4-FFF2-40B4-BE49-F238E27FC236}">
                <a16:creationId xmlns:a16="http://schemas.microsoft.com/office/drawing/2014/main" id="{896B3B0B-D884-2F49-F4CF-5178FD0C089C}"/>
              </a:ext>
            </a:extLst>
          </p:cNvPr>
          <p:cNvSpPr txBox="1">
            <a:spLocks/>
          </p:cNvSpPr>
          <p:nvPr/>
        </p:nvSpPr>
        <p:spPr>
          <a:xfrm>
            <a:off x="11384970" y="6377371"/>
            <a:ext cx="6546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6EF25A-341A-40B7-9D4B-928991921FC7}" type="slidenum">
              <a:rPr lang="pt-BR" b="1" smtClean="0">
                <a:solidFill>
                  <a:schemeClr val="accent1"/>
                </a:solidFill>
              </a:rPr>
              <a:pPr/>
              <a:t>4</a:t>
            </a:fld>
            <a:r>
              <a:rPr lang="pt-BR" b="1" dirty="0">
                <a:solidFill>
                  <a:schemeClr val="accent1"/>
                </a:solidFill>
              </a:rPr>
              <a:t>/12</a:t>
            </a:r>
          </a:p>
        </p:txBody>
      </p:sp>
    </p:spTree>
    <p:extLst>
      <p:ext uri="{BB962C8B-B14F-4D97-AF65-F5344CB8AC3E}">
        <p14:creationId xmlns:p14="http://schemas.microsoft.com/office/powerpoint/2010/main" val="462889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B318B7C-43C7-D7FB-D7B4-E963716E0AC0}"/>
              </a:ext>
            </a:extLst>
          </p:cNvPr>
          <p:cNvSpPr/>
          <p:nvPr/>
        </p:nvSpPr>
        <p:spPr>
          <a:xfrm>
            <a:off x="0" y="-7425"/>
            <a:ext cx="12192000" cy="112830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DEBD76F-3E22-003C-01BD-BC37FB4AC55E}"/>
              </a:ext>
            </a:extLst>
          </p:cNvPr>
          <p:cNvSpPr txBox="1"/>
          <p:nvPr/>
        </p:nvSpPr>
        <p:spPr>
          <a:xfrm>
            <a:off x="447021" y="239808"/>
            <a:ext cx="10245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Caso Base: Perfil de Tensão e Fluxos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36CD7BCC-E1B3-B934-7F65-C3059FE7A2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51" y="3067144"/>
            <a:ext cx="6730093" cy="285519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75E2488-6453-F36A-91B3-5B0810309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5554" y="2484683"/>
            <a:ext cx="3829584" cy="2010056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4D7897D-3CF4-46AD-9035-1CE6BB9F5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7031" y="4554232"/>
            <a:ext cx="4143953" cy="227679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14655694-5655-F3F7-AB5F-44E64DC95EBD}"/>
              </a:ext>
            </a:extLst>
          </p:cNvPr>
          <p:cNvSpPr txBox="1"/>
          <p:nvPr/>
        </p:nvSpPr>
        <p:spPr>
          <a:xfrm>
            <a:off x="936862" y="1238584"/>
            <a:ext cx="103182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Após a modelagem do sistema e a inserção dos dados no ANAREDE, foram obtidos os valores de tensão e potência nas barras, bem como os fluxos bidirecionais e as perdas ativas nas linhas de transmissão.</a:t>
            </a:r>
          </a:p>
        </p:txBody>
      </p:sp>
      <p:sp>
        <p:nvSpPr>
          <p:cNvPr id="18" name="Espaço Reservado para Número de Slide 14">
            <a:extLst>
              <a:ext uri="{FF2B5EF4-FFF2-40B4-BE49-F238E27FC236}">
                <a16:creationId xmlns:a16="http://schemas.microsoft.com/office/drawing/2014/main" id="{A96D2958-ADDD-08C2-8141-A988B5DFD655}"/>
              </a:ext>
            </a:extLst>
          </p:cNvPr>
          <p:cNvSpPr txBox="1">
            <a:spLocks/>
          </p:cNvSpPr>
          <p:nvPr/>
        </p:nvSpPr>
        <p:spPr>
          <a:xfrm>
            <a:off x="11425084" y="6377371"/>
            <a:ext cx="6145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6EF25A-341A-40B7-9D4B-928991921FC7}" type="slidenum">
              <a:rPr lang="pt-BR" b="1" smtClean="0">
                <a:solidFill>
                  <a:schemeClr val="accent1"/>
                </a:solidFill>
              </a:rPr>
              <a:pPr/>
              <a:t>5</a:t>
            </a:fld>
            <a:r>
              <a:rPr lang="pt-BR" b="1" dirty="0">
                <a:solidFill>
                  <a:schemeClr val="accent1"/>
                </a:solidFill>
              </a:rPr>
              <a:t>/12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42B5A85-BA7A-5DE8-5C84-CBE40ABCFF34}"/>
              </a:ext>
            </a:extLst>
          </p:cNvPr>
          <p:cNvSpPr txBox="1"/>
          <p:nvPr/>
        </p:nvSpPr>
        <p:spPr>
          <a:xfrm>
            <a:off x="1893931" y="5975158"/>
            <a:ext cx="36291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Diagrama no ANAREDE do STB-9 – Caso base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1237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14">
            <a:extLst>
              <a:ext uri="{FF2B5EF4-FFF2-40B4-BE49-F238E27FC236}">
                <a16:creationId xmlns:a16="http://schemas.microsoft.com/office/drawing/2014/main" id="{791E0E38-62C1-0A16-1090-CBA4BED92FB7}"/>
              </a:ext>
            </a:extLst>
          </p:cNvPr>
          <p:cNvSpPr txBox="1">
            <a:spLocks/>
          </p:cNvSpPr>
          <p:nvPr/>
        </p:nvSpPr>
        <p:spPr>
          <a:xfrm>
            <a:off x="11415252" y="6377371"/>
            <a:ext cx="624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6EF25A-341A-40B7-9D4B-928991921FC7}" type="slidenum">
              <a:rPr lang="pt-BR" b="1" smtClean="0">
                <a:solidFill>
                  <a:schemeClr val="accent1"/>
                </a:solidFill>
              </a:rPr>
              <a:pPr/>
              <a:t>6</a:t>
            </a:fld>
            <a:r>
              <a:rPr lang="pt-BR" b="1" dirty="0">
                <a:solidFill>
                  <a:schemeClr val="accent1"/>
                </a:solidFill>
              </a:rPr>
              <a:t>/12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99B5C33-ED86-BF66-DDE2-C1552C02D5CB}"/>
              </a:ext>
            </a:extLst>
          </p:cNvPr>
          <p:cNvSpPr/>
          <p:nvPr/>
        </p:nvSpPr>
        <p:spPr>
          <a:xfrm>
            <a:off x="0" y="-7425"/>
            <a:ext cx="12192000" cy="112830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379C6BF-3B83-07D3-940C-71E0F329E1A4}"/>
              </a:ext>
            </a:extLst>
          </p:cNvPr>
          <p:cNvSpPr txBox="1"/>
          <p:nvPr/>
        </p:nvSpPr>
        <p:spPr>
          <a:xfrm>
            <a:off x="447021" y="239808"/>
            <a:ext cx="10245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Variação das Cargas nas Barras 7, 8 e 9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B92956F-C3BB-627A-E2D7-5414175B6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63" y="3613212"/>
            <a:ext cx="3752615" cy="2127467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3AE6EB99-DD0D-CD83-BBCB-03F476AB0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621" y="3613212"/>
            <a:ext cx="3844636" cy="212746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EC7C45B-1502-1DFE-C43F-F0CEB99B2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501" y="3613212"/>
            <a:ext cx="3794736" cy="2127466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FE33D1CE-2C90-3B88-42E5-64E64A55C06F}"/>
              </a:ext>
            </a:extLst>
          </p:cNvPr>
          <p:cNvSpPr txBox="1"/>
          <p:nvPr/>
        </p:nvSpPr>
        <p:spPr>
          <a:xfrm>
            <a:off x="771735" y="1368110"/>
            <a:ext cx="106064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Em cada caso apenas uma barra teve sua carga variada, mantendo-se as demais cargas no valor do caso base. As figuras abaixo apresentam os perfis de tensão obtidos com a variação individual das cargas nas barras 7, 8 e 9. Em todos os casos, o aumento do carregamento reduziu as tensões nas barras de carga.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EBAE4DB-EEC5-3758-0954-AC1C85AB916A}"/>
              </a:ext>
            </a:extLst>
          </p:cNvPr>
          <p:cNvSpPr txBox="1"/>
          <p:nvPr/>
        </p:nvSpPr>
        <p:spPr>
          <a:xfrm>
            <a:off x="244357" y="5772210"/>
            <a:ext cx="34714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Perfil de tensão para variação da carga na barra 7.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63B3C63-3093-90BD-A264-79311EBEE9BC}"/>
              </a:ext>
            </a:extLst>
          </p:cNvPr>
          <p:cNvSpPr txBox="1"/>
          <p:nvPr/>
        </p:nvSpPr>
        <p:spPr>
          <a:xfrm>
            <a:off x="4272116" y="5772210"/>
            <a:ext cx="3347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Perfil de tensão para variação da carga na barra 8.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F19AA9D-2538-0546-B859-0AC42B9FC140}"/>
              </a:ext>
            </a:extLst>
          </p:cNvPr>
          <p:cNvSpPr txBox="1"/>
          <p:nvPr/>
        </p:nvSpPr>
        <p:spPr>
          <a:xfrm>
            <a:off x="8293500" y="5772209"/>
            <a:ext cx="3347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Perfil de tensão para variação da carga na barra 9.</a:t>
            </a:r>
          </a:p>
        </p:txBody>
      </p:sp>
    </p:spTree>
    <p:extLst>
      <p:ext uri="{BB962C8B-B14F-4D97-AF65-F5344CB8AC3E}">
        <p14:creationId xmlns:p14="http://schemas.microsoft.com/office/powerpoint/2010/main" val="796235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14">
            <a:extLst>
              <a:ext uri="{FF2B5EF4-FFF2-40B4-BE49-F238E27FC236}">
                <a16:creationId xmlns:a16="http://schemas.microsoft.com/office/drawing/2014/main" id="{762F0613-1B7D-A439-34FF-3A0A9B75A638}"/>
              </a:ext>
            </a:extLst>
          </p:cNvPr>
          <p:cNvSpPr txBox="1">
            <a:spLocks/>
          </p:cNvSpPr>
          <p:nvPr/>
        </p:nvSpPr>
        <p:spPr>
          <a:xfrm>
            <a:off x="11454581" y="6377371"/>
            <a:ext cx="585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6EF25A-341A-40B7-9D4B-928991921FC7}" type="slidenum">
              <a:rPr lang="pt-BR" b="1" smtClean="0">
                <a:solidFill>
                  <a:schemeClr val="accent1"/>
                </a:solidFill>
              </a:rPr>
              <a:pPr/>
              <a:t>7</a:t>
            </a:fld>
            <a:r>
              <a:rPr lang="pt-BR" b="1" dirty="0">
                <a:solidFill>
                  <a:schemeClr val="accent1"/>
                </a:solidFill>
              </a:rPr>
              <a:t>/12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564AD93-DA47-F60A-BFB3-18491311243B}"/>
              </a:ext>
            </a:extLst>
          </p:cNvPr>
          <p:cNvSpPr/>
          <p:nvPr/>
        </p:nvSpPr>
        <p:spPr>
          <a:xfrm>
            <a:off x="0" y="-7425"/>
            <a:ext cx="12192000" cy="112830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9BE82F0-C9DC-79C0-054F-0FBFAC4A12D3}"/>
              </a:ext>
            </a:extLst>
          </p:cNvPr>
          <p:cNvSpPr txBox="1"/>
          <p:nvPr/>
        </p:nvSpPr>
        <p:spPr>
          <a:xfrm>
            <a:off x="447021" y="239808"/>
            <a:ext cx="10245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Perdas Ativas por Linha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A984C9E-4DE8-A954-041D-C3B005A9D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21" y="1726669"/>
            <a:ext cx="3736949" cy="213964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CE47D07-EF07-E695-6CB2-A86BAE82F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970" y="3866314"/>
            <a:ext cx="3812184" cy="2139645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C4EC6AFD-1BD3-E513-6A1D-13FD838A70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663" y="1726669"/>
            <a:ext cx="3806316" cy="2139645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A0FA0E59-89E3-928A-0F55-5E4452915C0E}"/>
              </a:ext>
            </a:extLst>
          </p:cNvPr>
          <p:cNvSpPr txBox="1"/>
          <p:nvPr/>
        </p:nvSpPr>
        <p:spPr>
          <a:xfrm>
            <a:off x="571498" y="3866313"/>
            <a:ext cx="34879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/>
              <a:t>Perdas ativas por linha variação da carga na barra 7.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85D36B7-135D-D452-953F-1D6CE896AC4B}"/>
              </a:ext>
            </a:extLst>
          </p:cNvPr>
          <p:cNvSpPr txBox="1"/>
          <p:nvPr/>
        </p:nvSpPr>
        <p:spPr>
          <a:xfrm>
            <a:off x="8227489" y="3866313"/>
            <a:ext cx="35174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/>
              <a:t>Perdas ativas por linha variação da carga na barra 9.</a:t>
            </a:r>
            <a:endParaRPr lang="pt-BR" sz="120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7AC4F7F-6B40-F416-4347-1AB2847EAF0B}"/>
              </a:ext>
            </a:extLst>
          </p:cNvPr>
          <p:cNvSpPr txBox="1"/>
          <p:nvPr/>
        </p:nvSpPr>
        <p:spPr>
          <a:xfrm>
            <a:off x="4341149" y="6097748"/>
            <a:ext cx="3497826" cy="278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/>
              <a:t>Perdas ativas por linha variação da carga na barra 8.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018505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14">
            <a:extLst>
              <a:ext uri="{FF2B5EF4-FFF2-40B4-BE49-F238E27FC236}">
                <a16:creationId xmlns:a16="http://schemas.microsoft.com/office/drawing/2014/main" id="{2D99A5E6-9019-17D2-235D-C3E24A4BB7AD}"/>
              </a:ext>
            </a:extLst>
          </p:cNvPr>
          <p:cNvSpPr txBox="1">
            <a:spLocks/>
          </p:cNvSpPr>
          <p:nvPr/>
        </p:nvSpPr>
        <p:spPr>
          <a:xfrm>
            <a:off x="11433990" y="6377371"/>
            <a:ext cx="6056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6EF25A-341A-40B7-9D4B-928991921FC7}" type="slidenum">
              <a:rPr lang="pt-BR" b="1" smtClean="0">
                <a:solidFill>
                  <a:schemeClr val="accent1"/>
                </a:solidFill>
              </a:rPr>
              <a:pPr/>
              <a:t>8</a:t>
            </a:fld>
            <a:r>
              <a:rPr lang="pt-BR" b="1" dirty="0">
                <a:solidFill>
                  <a:schemeClr val="accent1"/>
                </a:solidFill>
              </a:rPr>
              <a:t>/12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7FB9D03-16ED-C099-8F2F-B1A05ECB402D}"/>
              </a:ext>
            </a:extLst>
          </p:cNvPr>
          <p:cNvSpPr/>
          <p:nvPr/>
        </p:nvSpPr>
        <p:spPr>
          <a:xfrm>
            <a:off x="0" y="-7425"/>
            <a:ext cx="12192000" cy="112830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0962C5E-9751-5B0C-EDD7-D152431455FE}"/>
              </a:ext>
            </a:extLst>
          </p:cNvPr>
          <p:cNvSpPr txBox="1"/>
          <p:nvPr/>
        </p:nvSpPr>
        <p:spPr>
          <a:xfrm>
            <a:off x="447021" y="239808"/>
            <a:ext cx="10245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Identificação do pior cenário: carregamento em 150%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0DEB111-605C-6D35-C02C-28AECE7882A1}"/>
              </a:ext>
            </a:extLst>
          </p:cNvPr>
          <p:cNvSpPr txBox="1"/>
          <p:nvPr/>
        </p:nvSpPr>
        <p:spPr>
          <a:xfrm>
            <a:off x="1209282" y="1213439"/>
            <a:ext cx="101667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Foi feita uma comparação dos cenários com 150% de carregamento. Após essa comparação, nota-se que o caso mais crítico ocorreu quando a carga da barra 9 foi elevada para 150%. 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764BF81-7B19-185D-4557-E22F5406C098}"/>
              </a:ext>
            </a:extLst>
          </p:cNvPr>
          <p:cNvSpPr txBox="1"/>
          <p:nvPr/>
        </p:nvSpPr>
        <p:spPr>
          <a:xfrm>
            <a:off x="447021" y="2523989"/>
            <a:ext cx="489388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As barras 9, 7, 5 e 8 apresentaram queda de tensão acentuada, com valores inferiores ao limite mínimo de 0,95 </a:t>
            </a:r>
            <a:r>
              <a:rPr lang="pt-BR" dirty="0" err="1"/>
              <a:t>pu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barra 9 foi a mais crítica, com tensão de 0,901 </a:t>
            </a:r>
            <a:r>
              <a:rPr lang="pt-BR" dirty="0" err="1"/>
              <a:t>pu</a:t>
            </a:r>
            <a:r>
              <a:rPr lang="pt-B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Estratégia de melhoria: banco capacitivo.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Foram testados bancos capacitivos de 30, 35 e 40 </a:t>
            </a:r>
            <a:r>
              <a:rPr lang="pt-BR" dirty="0" err="1"/>
              <a:t>Mvar</a:t>
            </a:r>
            <a:r>
              <a:rPr lang="pt-B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Tensão da barra 9 passou de 0,901 </a:t>
            </a:r>
            <a:r>
              <a:rPr lang="pt-BR" dirty="0" err="1"/>
              <a:t>pu</a:t>
            </a:r>
            <a:r>
              <a:rPr lang="pt-BR" dirty="0"/>
              <a:t> para 0,965 </a:t>
            </a:r>
            <a:r>
              <a:rPr lang="pt-BR" dirty="0" err="1"/>
              <a:t>pu</a:t>
            </a:r>
            <a:r>
              <a:rPr lang="pt-B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As perdas ativas totais foram reduzidas de 8,9 MW para aproximadamente 8,2 MW.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Retorno da carga da barra 9 a 100%, com banco instalado.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87818-4AE7-DE87-BAC0-0F39341CE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190" y="2537006"/>
            <a:ext cx="4563111" cy="154105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C49ECF79-B3B8-666B-E28C-4D4D84FC8D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459512"/>
            <a:ext cx="5189492" cy="193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746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1A2F109-39E1-AB1F-9D5B-AE279F4946CD}"/>
              </a:ext>
            </a:extLst>
          </p:cNvPr>
          <p:cNvSpPr/>
          <p:nvPr/>
        </p:nvSpPr>
        <p:spPr>
          <a:xfrm>
            <a:off x="0" y="-7425"/>
            <a:ext cx="12192000" cy="112830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090AA71-B601-1C69-0B36-4F3A8BED2CC6}"/>
              </a:ext>
            </a:extLst>
          </p:cNvPr>
          <p:cNvSpPr txBox="1"/>
          <p:nvPr/>
        </p:nvSpPr>
        <p:spPr>
          <a:xfrm>
            <a:off x="447021" y="239808"/>
            <a:ext cx="10245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Comparação Antes e Depois da Compensação</a:t>
            </a:r>
          </a:p>
        </p:txBody>
      </p:sp>
      <p:sp>
        <p:nvSpPr>
          <p:cNvPr id="6" name="Espaço Reservado para Número de Slide 14">
            <a:extLst>
              <a:ext uri="{FF2B5EF4-FFF2-40B4-BE49-F238E27FC236}">
                <a16:creationId xmlns:a16="http://schemas.microsoft.com/office/drawing/2014/main" id="{D4AABD00-6412-8644-5E09-1D7C280DC27E}"/>
              </a:ext>
            </a:extLst>
          </p:cNvPr>
          <p:cNvSpPr txBox="1">
            <a:spLocks/>
          </p:cNvSpPr>
          <p:nvPr/>
        </p:nvSpPr>
        <p:spPr>
          <a:xfrm>
            <a:off x="11484077" y="6377371"/>
            <a:ext cx="555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6EF25A-341A-40B7-9D4B-928991921FC7}" type="slidenum">
              <a:rPr lang="pt-BR" b="1" smtClean="0">
                <a:solidFill>
                  <a:schemeClr val="accent1"/>
                </a:solidFill>
              </a:rPr>
              <a:pPr/>
              <a:t>9</a:t>
            </a:fld>
            <a:r>
              <a:rPr lang="pt-BR" b="1" dirty="0">
                <a:solidFill>
                  <a:schemeClr val="accent1"/>
                </a:solidFill>
              </a:rPr>
              <a:t>/12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5DE5380-057E-F347-C7A0-A959094BA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562728"/>
            <a:ext cx="6132286" cy="4032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BAC069E-05CD-903F-20B5-FB2A13A00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199" y="1562728"/>
            <a:ext cx="5756400" cy="4032000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4AD1393E-3F28-6F9A-2E8B-11CFBFBF1DC1}"/>
              </a:ext>
            </a:extLst>
          </p:cNvPr>
          <p:cNvSpPr txBox="1"/>
          <p:nvPr/>
        </p:nvSpPr>
        <p:spPr>
          <a:xfrm>
            <a:off x="1721406" y="5709011"/>
            <a:ext cx="29942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1"/>
            </a:lvl1pPr>
          </a:lstStyle>
          <a:p>
            <a:pPr algn="ctr"/>
            <a:r>
              <a:rPr lang="pt-BR" sz="1500" dirty="0"/>
              <a:t>Diagrama no ANAREDE do STB-9</a:t>
            </a:r>
          </a:p>
          <a:p>
            <a:pPr algn="ctr"/>
            <a:r>
              <a:rPr lang="pt-BR" sz="1500" dirty="0"/>
              <a:t>150% na barra 9 sem compensação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299E6C2-C048-C538-45FF-328727A9FE43}"/>
              </a:ext>
            </a:extLst>
          </p:cNvPr>
          <p:cNvSpPr txBox="1"/>
          <p:nvPr/>
        </p:nvSpPr>
        <p:spPr>
          <a:xfrm>
            <a:off x="7664261" y="5709011"/>
            <a:ext cx="29942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1"/>
            </a:lvl1pPr>
          </a:lstStyle>
          <a:p>
            <a:pPr algn="ctr"/>
            <a:r>
              <a:rPr lang="pt-BR" sz="1500" dirty="0"/>
              <a:t>Diagrama no ANAREDE do STB-9</a:t>
            </a:r>
          </a:p>
          <a:p>
            <a:pPr algn="ctr"/>
            <a:r>
              <a:rPr lang="pt-BR" sz="1500" dirty="0"/>
              <a:t>150% na barra 9 com compensação</a:t>
            </a:r>
          </a:p>
        </p:txBody>
      </p:sp>
    </p:spTree>
    <p:extLst>
      <p:ext uri="{BB962C8B-B14F-4D97-AF65-F5344CB8AC3E}">
        <p14:creationId xmlns:p14="http://schemas.microsoft.com/office/powerpoint/2010/main" val="4210205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1A2F109-39E1-AB1F-9D5B-AE279F4946CD}"/>
              </a:ext>
            </a:extLst>
          </p:cNvPr>
          <p:cNvSpPr/>
          <p:nvPr/>
        </p:nvSpPr>
        <p:spPr>
          <a:xfrm>
            <a:off x="0" y="-7425"/>
            <a:ext cx="12192000" cy="112830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090AA71-B601-1C69-0B36-4F3A8BED2CC6}"/>
              </a:ext>
            </a:extLst>
          </p:cNvPr>
          <p:cNvSpPr txBox="1"/>
          <p:nvPr/>
        </p:nvSpPr>
        <p:spPr>
          <a:xfrm>
            <a:off x="447021" y="239808"/>
            <a:ext cx="10245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Comparação Antes e Depois da Compensação</a:t>
            </a:r>
          </a:p>
        </p:txBody>
      </p:sp>
      <p:sp>
        <p:nvSpPr>
          <p:cNvPr id="6" name="Espaço Reservado para Número de Slide 14">
            <a:extLst>
              <a:ext uri="{FF2B5EF4-FFF2-40B4-BE49-F238E27FC236}">
                <a16:creationId xmlns:a16="http://schemas.microsoft.com/office/drawing/2014/main" id="{D4AABD00-6412-8644-5E09-1D7C280DC27E}"/>
              </a:ext>
            </a:extLst>
          </p:cNvPr>
          <p:cNvSpPr txBox="1">
            <a:spLocks/>
          </p:cNvSpPr>
          <p:nvPr/>
        </p:nvSpPr>
        <p:spPr>
          <a:xfrm>
            <a:off x="11396993" y="6377371"/>
            <a:ext cx="6788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6EF25A-341A-40B7-9D4B-928991921FC7}" type="slidenum">
              <a:rPr lang="pt-BR" b="1" smtClean="0">
                <a:solidFill>
                  <a:schemeClr val="accent1"/>
                </a:solidFill>
              </a:rPr>
              <a:pPr/>
              <a:t>10</a:t>
            </a:fld>
            <a:r>
              <a:rPr lang="pt-BR" b="1" dirty="0">
                <a:solidFill>
                  <a:schemeClr val="accent1"/>
                </a:solidFill>
              </a:rPr>
              <a:t>/12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6318E03-93F6-E8B3-D7F2-D1C4950E90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7" b="-1"/>
          <a:stretch/>
        </p:blipFill>
        <p:spPr>
          <a:xfrm>
            <a:off x="3440629" y="2984614"/>
            <a:ext cx="5310742" cy="3032018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5DD03ACD-79E4-A437-097E-7983E4D3F157}"/>
              </a:ext>
            </a:extLst>
          </p:cNvPr>
          <p:cNvSpPr txBox="1"/>
          <p:nvPr/>
        </p:nvSpPr>
        <p:spPr>
          <a:xfrm>
            <a:off x="226142" y="1309065"/>
            <a:ext cx="1173971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300" dirty="0"/>
              <a:t>Comparação do perfil de tensão do cenário B9-150% antes e depois da instalação do banco capacitivo shunt de 40 </a:t>
            </a:r>
            <a:r>
              <a:rPr lang="pt-BR" sz="2300" dirty="0" err="1"/>
              <a:t>Mvar</a:t>
            </a:r>
            <a:r>
              <a:rPr lang="pt-BR" sz="2300" dirty="0"/>
              <a:t> na barra 9. Antes da compensação, as barras 5, 7, 8 e 9 estavam abaixo do limite mínimo de 0,95 </a:t>
            </a:r>
            <a:r>
              <a:rPr lang="pt-BR" sz="2300" dirty="0" err="1"/>
              <a:t>pu</a:t>
            </a:r>
            <a:r>
              <a:rPr lang="pt-BR" sz="2300" dirty="0"/>
              <a:t>. Após a compensação, todas as tensões passaram a operar dentro da faixa permitida, evidenciando a efetividade da estratégia adotada.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CCBCD6D-36BC-77FE-CF0E-8B68A1E695CB}"/>
              </a:ext>
            </a:extLst>
          </p:cNvPr>
          <p:cNvSpPr txBox="1"/>
          <p:nvPr/>
        </p:nvSpPr>
        <p:spPr>
          <a:xfrm>
            <a:off x="3248279" y="6021569"/>
            <a:ext cx="61012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/>
              <a:t>Comparação das tensões na barra antes e depois da compensação</a:t>
            </a:r>
          </a:p>
        </p:txBody>
      </p:sp>
    </p:spTree>
    <p:extLst>
      <p:ext uri="{BB962C8B-B14F-4D97-AF65-F5344CB8AC3E}">
        <p14:creationId xmlns:p14="http://schemas.microsoft.com/office/powerpoint/2010/main" val="3617128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5149E4B-D2CA-932A-148C-63DEF4DFC28E}"/>
              </a:ext>
            </a:extLst>
          </p:cNvPr>
          <p:cNvSpPr/>
          <p:nvPr/>
        </p:nvSpPr>
        <p:spPr>
          <a:xfrm>
            <a:off x="0" y="-7425"/>
            <a:ext cx="12192000" cy="112830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C18BCC8-6B08-3268-0979-5CF2EEE06D9C}"/>
              </a:ext>
            </a:extLst>
          </p:cNvPr>
          <p:cNvSpPr txBox="1"/>
          <p:nvPr/>
        </p:nvSpPr>
        <p:spPr>
          <a:xfrm>
            <a:off x="447021" y="239808"/>
            <a:ext cx="10245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Dispositivos FACTS</a:t>
            </a:r>
          </a:p>
        </p:txBody>
      </p:sp>
      <p:sp>
        <p:nvSpPr>
          <p:cNvPr id="6" name="Espaço Reservado para Número de Slide 14">
            <a:extLst>
              <a:ext uri="{FF2B5EF4-FFF2-40B4-BE49-F238E27FC236}">
                <a16:creationId xmlns:a16="http://schemas.microsoft.com/office/drawing/2014/main" id="{82E53F3E-4E11-D115-262F-495F36C10235}"/>
              </a:ext>
            </a:extLst>
          </p:cNvPr>
          <p:cNvSpPr txBox="1">
            <a:spLocks/>
          </p:cNvSpPr>
          <p:nvPr/>
        </p:nvSpPr>
        <p:spPr>
          <a:xfrm>
            <a:off x="11454581" y="6377371"/>
            <a:ext cx="585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6EF25A-341A-40B7-9D4B-928991921FC7}" type="slidenum">
              <a:rPr lang="pt-BR" b="1" smtClean="0">
                <a:solidFill>
                  <a:schemeClr val="accent1"/>
                </a:solidFill>
              </a:rPr>
              <a:pPr/>
              <a:t>11</a:t>
            </a:fld>
            <a:r>
              <a:rPr lang="pt-BR" b="1" dirty="0">
                <a:solidFill>
                  <a:schemeClr val="accent1"/>
                </a:solidFill>
              </a:rPr>
              <a:t>/12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8DC8963-4503-38E0-44AC-4139E32FD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424964"/>
            <a:ext cx="5125165" cy="264832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A2359CE-20CD-2CAB-79B5-4FEC0B429990}"/>
              </a:ext>
            </a:extLst>
          </p:cNvPr>
          <p:cNvSpPr txBox="1"/>
          <p:nvPr/>
        </p:nvSpPr>
        <p:spPr>
          <a:xfrm>
            <a:off x="105696" y="1238439"/>
            <a:ext cx="117003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Os dispositivos FACTS (</a:t>
            </a:r>
            <a:r>
              <a:rPr lang="pt-BR" sz="2400" dirty="0" err="1"/>
              <a:t>Flexible</a:t>
            </a:r>
            <a:r>
              <a:rPr lang="pt-BR" sz="2400" dirty="0"/>
              <a:t> AC </a:t>
            </a:r>
            <a:r>
              <a:rPr lang="pt-BR" sz="2400" dirty="0" err="1"/>
              <a:t>Transmission</a:t>
            </a:r>
            <a:r>
              <a:rPr lang="pt-BR" sz="2400" dirty="0"/>
              <a:t> Systems) são equipamentos baseados em eletrônica de potência utilizados para aumentar a flexibilidade de operação dos sistemas de transmissão em corrente alternada.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D718DCC-096A-3482-9331-84AEFB796884}"/>
              </a:ext>
            </a:extLst>
          </p:cNvPr>
          <p:cNvSpPr txBox="1"/>
          <p:nvPr/>
        </p:nvSpPr>
        <p:spPr>
          <a:xfrm>
            <a:off x="318319" y="2779628"/>
            <a:ext cx="55650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A função principal deles é controlar: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Tensão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Potência Reativa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Fluxo de Potência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Impedância Equivalente de Linha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36864EF-D12E-3C78-A71E-FF2539777F07}"/>
              </a:ext>
            </a:extLst>
          </p:cNvPr>
          <p:cNvSpPr txBox="1"/>
          <p:nvPr/>
        </p:nvSpPr>
        <p:spPr>
          <a:xfrm>
            <a:off x="587477" y="5177042"/>
            <a:ext cx="107368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Equipamentos Complementares em Subestações:</a:t>
            </a:r>
          </a:p>
          <a:p>
            <a:r>
              <a:rPr lang="pt-BR" sz="2400" dirty="0"/>
              <a:t>Banco de Capacitores, reatores shunt, transformadores com OLTC, compensadores síncronos, disjuntores e seccionadores, </a:t>
            </a:r>
            <a:r>
              <a:rPr lang="pt-BR" sz="2400" dirty="0" err="1"/>
              <a:t>TCs</a:t>
            </a:r>
            <a:r>
              <a:rPr lang="pt-BR" sz="2400" dirty="0"/>
              <a:t> e </a:t>
            </a:r>
            <a:r>
              <a:rPr lang="pt-BR" sz="2400" dirty="0" err="1"/>
              <a:t>TPs</a:t>
            </a:r>
            <a:r>
              <a:rPr lang="pt-BR" sz="2400" dirty="0"/>
              <a:t> e relés digitais(SCADA e </a:t>
            </a:r>
            <a:r>
              <a:rPr lang="pt-BR" sz="2400" dirty="0" err="1"/>
              <a:t>PMUs</a:t>
            </a:r>
            <a:r>
              <a:rPr lang="pt-BR" sz="2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57146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D0757BB-CEEB-D48E-9F1F-01F0120BD36B}"/>
              </a:ext>
            </a:extLst>
          </p:cNvPr>
          <p:cNvSpPr/>
          <p:nvPr/>
        </p:nvSpPr>
        <p:spPr>
          <a:xfrm>
            <a:off x="0" y="-7425"/>
            <a:ext cx="12192000" cy="112830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A276ECE-6FCA-9DB6-0AE1-537FE4CEB572}"/>
              </a:ext>
            </a:extLst>
          </p:cNvPr>
          <p:cNvSpPr txBox="1"/>
          <p:nvPr/>
        </p:nvSpPr>
        <p:spPr>
          <a:xfrm>
            <a:off x="447021" y="239808"/>
            <a:ext cx="10245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>
                <a:solidFill>
                  <a:schemeClr val="bg1"/>
                </a:solidFill>
              </a:rPr>
              <a:t>Conclusão</a:t>
            </a:r>
            <a:endParaRPr lang="pt-BR" sz="3600" dirty="0">
              <a:solidFill>
                <a:schemeClr val="bg1"/>
              </a:solidFill>
            </a:endParaRPr>
          </a:p>
        </p:txBody>
      </p:sp>
      <p:sp>
        <p:nvSpPr>
          <p:cNvPr id="6" name="Espaço Reservado para Número de Slide 14">
            <a:extLst>
              <a:ext uri="{FF2B5EF4-FFF2-40B4-BE49-F238E27FC236}">
                <a16:creationId xmlns:a16="http://schemas.microsoft.com/office/drawing/2014/main" id="{B1C46F0B-D3F4-6086-388B-E5A8185ABC1E}"/>
              </a:ext>
            </a:extLst>
          </p:cNvPr>
          <p:cNvSpPr txBox="1">
            <a:spLocks/>
          </p:cNvSpPr>
          <p:nvPr/>
        </p:nvSpPr>
        <p:spPr>
          <a:xfrm>
            <a:off x="11454581" y="6377371"/>
            <a:ext cx="585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6EF25A-341A-40B7-9D4B-928991921FC7}" type="slidenum">
              <a:rPr lang="pt-BR" b="1" smtClean="0">
                <a:solidFill>
                  <a:schemeClr val="accent1"/>
                </a:solidFill>
              </a:rPr>
              <a:pPr/>
              <a:t>12</a:t>
            </a:fld>
            <a:r>
              <a:rPr lang="pt-BR" b="1">
                <a:solidFill>
                  <a:schemeClr val="accent1"/>
                </a:solidFill>
              </a:rPr>
              <a:t>/12</a:t>
            </a:r>
            <a:endParaRPr lang="pt-BR" b="1" dirty="0">
              <a:solidFill>
                <a:schemeClr val="accent1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1148B97-34AC-6058-5974-16FA251C134F}"/>
              </a:ext>
            </a:extLst>
          </p:cNvPr>
          <p:cNvSpPr txBox="1"/>
          <p:nvPr/>
        </p:nvSpPr>
        <p:spPr>
          <a:xfrm>
            <a:off x="531366" y="1618318"/>
            <a:ext cx="1112926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De forma geral, o trabalho mostrou que o aumento de carga reduz o perfil de tensão e aumenta as perdas no sistema. A barra 9 foi identificada como a mais crítica, principalmente no cenário de 150% de carregamento, quando a tensão mínima caiu para 0,901 </a:t>
            </a:r>
            <a:r>
              <a:rPr lang="pt-BR" sz="2400" dirty="0" err="1"/>
              <a:t>pu</a:t>
            </a:r>
            <a:r>
              <a:rPr lang="pt-BR" sz="2400" dirty="0"/>
              <a:t>. Com a instalação de um banco capacitivo shunt de 40 </a:t>
            </a:r>
            <a:r>
              <a:rPr lang="pt-BR" sz="2400" dirty="0" err="1"/>
              <a:t>Mvar</a:t>
            </a:r>
            <a:r>
              <a:rPr lang="pt-BR" sz="2400" dirty="0"/>
              <a:t> na própria barra 9, a tensão foi elevada para 0,965 </a:t>
            </a:r>
            <a:r>
              <a:rPr lang="pt-BR" sz="2400" dirty="0" err="1"/>
              <a:t>pu</a:t>
            </a:r>
            <a:r>
              <a:rPr lang="pt-BR" sz="2400" dirty="0"/>
              <a:t> e o sistema voltou a operar dentro dos limites permitidos. Assim, a compensação reativa local foi eficiente para corrigir o pior cenário analisado.</a:t>
            </a:r>
          </a:p>
          <a:p>
            <a:endParaRPr lang="pt-BR" sz="2400" dirty="0"/>
          </a:p>
          <a:p>
            <a:r>
              <a:rPr lang="pt-BR" sz="2400" dirty="0"/>
              <a:t>Por fim, a pesquisa sobre dispositivos FACTS mostrou que soluções como SVC e STATCOM poderiam realizar uma função semelhante de suporte de tensão, porém com controle dinâmico de potência reativa, sendo mais indicadas para sistemas reais sujeitos a grandes variações operativas. </a:t>
            </a:r>
          </a:p>
        </p:txBody>
      </p:sp>
    </p:spTree>
    <p:extLst>
      <p:ext uri="{BB962C8B-B14F-4D97-AF65-F5344CB8AC3E}">
        <p14:creationId xmlns:p14="http://schemas.microsoft.com/office/powerpoint/2010/main" val="4468015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</TotalTime>
  <Words>970</Words>
  <Application>Microsoft Office PowerPoint</Application>
  <PresentationFormat>Widescreen</PresentationFormat>
  <Paragraphs>93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Gill Sans</vt:lpstr>
      <vt:lpstr>Tema do Office</vt:lpstr>
      <vt:lpstr>Fluxo de Carga no STB-9: Avaliação de Carregamento e Compensação Reativa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caique moraes</dc:creator>
  <cp:lastModifiedBy>Emerson Matheus</cp:lastModifiedBy>
  <cp:revision>19</cp:revision>
  <dcterms:created xsi:type="dcterms:W3CDTF">2026-07-05T16:35:06Z</dcterms:created>
  <dcterms:modified xsi:type="dcterms:W3CDTF">2026-07-06T21:33:02Z</dcterms:modified>
</cp:coreProperties>
</file>